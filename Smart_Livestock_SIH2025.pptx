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150990" cy="347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Smart Livestock Health Monitoring and Early Disease Detection System</a:t>
            </a:r>
          </a:p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Problem Statement ID </a:t>
            </a: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–  </a:t>
            </a:r>
            <a:r>
              <a:rPr lang="en-IN" dirty="0"/>
              <a:t>SIH26128</a:t>
            </a: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Problem Statement Title- 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Efficient systems for early detection, prevention, and management of livestock diseases and animal health issues</a:t>
            </a:r>
          </a:p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Theme- </a:t>
            </a:r>
            <a:r>
              <a:rPr lang="en-IN" dirty="0"/>
              <a:t>MedTech / </a:t>
            </a:r>
            <a:r>
              <a:rPr lang="en-IN" dirty="0" err="1"/>
              <a:t>BioTech</a:t>
            </a:r>
            <a:r>
              <a:rPr lang="en-IN" dirty="0"/>
              <a:t> / HealthTech</a:t>
            </a: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PS Category- </a:t>
            </a:r>
            <a:r>
              <a:rPr lang="en-US" sz="17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Software </a:t>
            </a:r>
          </a:p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Team ID- </a:t>
            </a:r>
            <a:r>
              <a:rPr lang="en-IN" dirty="0"/>
              <a:t>152487</a:t>
            </a: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Team Name - 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Case Tracer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09600" y="1250000"/>
            <a:ext cx="1100000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Proposed Solution</a:t>
            </a:r>
          </a:p>
          <a:p>
            <a:pPr marL="342900" indent="-342900" algn="l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22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742950" indent="-285750" algn="l">
              <a:lnSpc>
                <a:spcPct val="100000"/>
              </a:lnSpc>
              <a:spcBef>
                <a:spcPts val="200"/>
              </a:spcBef>
              <a:buFont typeface="Arial"/>
              <a:buChar char="–"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Continuous digital health monitoring: IoT sensors for temperature, activity and health data, plus farmer reports of visible symptoms</a:t>
            </a:r>
          </a:p>
          <a:p>
            <a:pPr marL="742950" indent="-285750" algn="l">
              <a:lnSpc>
                <a:spcPct val="100000"/>
              </a:lnSpc>
              <a:spcBef>
                <a:spcPts val="200"/>
              </a:spcBef>
              <a:buFont typeface="Arial"/>
              <a:buChar char="–"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AI/ML analysis of health patterns and risks, with automated farmer and veterinarian alerts</a:t>
            </a:r>
          </a:p>
          <a:p>
            <a:pPr marL="742950" indent="-285750" algn="l">
              <a:lnSpc>
                <a:spcPct val="100000"/>
              </a:lnSpc>
              <a:spcBef>
                <a:spcPts val="200"/>
              </a:spcBef>
              <a:buFont typeface="Arial"/>
              <a:buChar char="–"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Digital vaccination and treatment records for every animal</a:t>
            </a:r>
          </a:p>
          <a:p>
            <a:pPr marL="342900" indent="-342900" algn="l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22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How it addresses the problem</a:t>
            </a:r>
          </a:p>
          <a:p>
            <a:pPr marL="742950" indent="-285750" algn="l">
              <a:lnSpc>
                <a:spcPct val="100000"/>
              </a:lnSpc>
              <a:spcBef>
                <a:spcPts val="200"/>
              </a:spcBef>
              <a:buFont typeface="Arial"/>
              <a:buChar char="–"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Flags abnormal conditions earlier; supports preventive care and timely action</a:t>
            </a:r>
          </a:p>
          <a:p>
            <a:pPr marL="742950" indent="-285750" algn="l">
              <a:lnSpc>
                <a:spcPct val="100000"/>
              </a:lnSpc>
              <a:spcBef>
                <a:spcPts val="200"/>
              </a:spcBef>
              <a:buFont typeface="Arial"/>
              <a:buChar char="–"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Helps identify possible disease outbreaks across the farm</a:t>
            </a:r>
          </a:p>
          <a:p>
            <a:pPr marL="342900" indent="-342900" algn="l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22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Innovation and uniqueness of the solution</a:t>
            </a:r>
          </a:p>
          <a:p>
            <a:pPr marL="742950" indent="-285750" algn="l">
              <a:lnSpc>
                <a:spcPct val="100000"/>
              </a:lnSpc>
              <a:spcBef>
                <a:spcPts val="200"/>
              </a:spcBef>
              <a:buFont typeface="Arial"/>
              <a:buChar char="–"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IoT + AI/ML + veterinary records combined; a digital health profile for each animal</a:t>
            </a:r>
          </a:p>
          <a:p>
            <a:pPr marL="742950" indent="-285750" algn="l">
              <a:lnSpc>
                <a:spcPct val="100000"/>
              </a:lnSpc>
              <a:spcBef>
                <a:spcPts val="200"/>
              </a:spcBef>
              <a:buFont typeface="Arial"/>
              <a:buChar char="–"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Real-time risk alerts and farm outbreak monitoring</a:t>
            </a:r>
          </a:p>
          <a:p>
            <a:pPr marL="742950" indent="-285750" algn="l">
              <a:lnSpc>
                <a:spcPct val="100000"/>
              </a:lnSpc>
              <a:spcBef>
                <a:spcPts val="200"/>
              </a:spcBef>
              <a:buFont typeface="Arial"/>
              <a:buChar char="–"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Proposed design: start with rule-based alerts and introduce ML after collecting validated veterinary data; risk alerts support veterinary assessment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1" name="Shape 201"/>
          <p:cNvSpPr/>
          <p:nvPr/>
        </p:nvSpPr>
        <p:spPr>
          <a:xfrm>
            <a:off x="500000" y="1230000"/>
            <a:ext cx="42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800" b="1" dirty="0">
                <a:solidFill>
                  <a:srgbClr val="1F3864"/>
                </a:solidFill>
                <a:latin typeface="Arial"/>
                <a:cs typeface="Arial"/>
              </a:rPr>
              <a:t>Technologies to be used</a:t>
            </a:r>
          </a:p>
        </p:txBody>
      </p:sp>
      <p:sp>
        <p:nvSpPr>
          <p:cNvPr id="202" name="Shape 202"/>
          <p:cNvSpPr/>
          <p:nvPr/>
        </p:nvSpPr>
        <p:spPr>
          <a:xfrm>
            <a:off x="500000" y="1650000"/>
            <a:ext cx="1513142" cy="30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Frontend</a:t>
            </a:r>
          </a:p>
        </p:txBody>
      </p:sp>
      <p:sp>
        <p:nvSpPr>
          <p:cNvPr id="203" name="Shape 203"/>
          <p:cNvSpPr/>
          <p:nvPr/>
        </p:nvSpPr>
        <p:spPr>
          <a:xfrm>
            <a:off x="500000" y="1950000"/>
            <a:ext cx="1513142" cy="650000"/>
          </a:xfrm>
          <a:prstGeom prst="rect">
            <a:avLst/>
          </a:prstGeom>
          <a:solidFill>
            <a:srgbClr val="DEEAF6"/>
          </a:solidFill>
          <a:ln w="9525">
            <a:solidFill>
              <a:srgbClr val="0070C0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/>
                <a:cs typeface="Arial"/>
              </a:rPr>
              <a:t>React / TypeScript</a:t>
            </a:r>
          </a:p>
        </p:txBody>
      </p:sp>
      <p:sp>
        <p:nvSpPr>
          <p:cNvPr id="204" name="Shape 204"/>
          <p:cNvSpPr/>
          <p:nvPr/>
        </p:nvSpPr>
        <p:spPr>
          <a:xfrm>
            <a:off x="2113142" y="1650000"/>
            <a:ext cx="1513142" cy="30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Backend</a:t>
            </a:r>
          </a:p>
        </p:txBody>
      </p:sp>
      <p:sp>
        <p:nvSpPr>
          <p:cNvPr id="205" name="Shape 205"/>
          <p:cNvSpPr/>
          <p:nvPr/>
        </p:nvSpPr>
        <p:spPr>
          <a:xfrm>
            <a:off x="2113142" y="1950000"/>
            <a:ext cx="1513142" cy="650000"/>
          </a:xfrm>
          <a:prstGeom prst="rect">
            <a:avLst/>
          </a:prstGeom>
          <a:solidFill>
            <a:srgbClr val="DEEAF6"/>
          </a:solidFill>
          <a:ln w="9525">
            <a:solidFill>
              <a:srgbClr val="0070C0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/>
                <a:cs typeface="Arial"/>
              </a:rPr>
              <a:t>Python / FastAPI</a:t>
            </a:r>
          </a:p>
        </p:txBody>
      </p:sp>
      <p:sp>
        <p:nvSpPr>
          <p:cNvPr id="206" name="Shape 206"/>
          <p:cNvSpPr/>
          <p:nvPr/>
        </p:nvSpPr>
        <p:spPr>
          <a:xfrm>
            <a:off x="3726284" y="1650000"/>
            <a:ext cx="1513142" cy="30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Database</a:t>
            </a:r>
          </a:p>
        </p:txBody>
      </p:sp>
      <p:sp>
        <p:nvSpPr>
          <p:cNvPr id="207" name="Shape 207"/>
          <p:cNvSpPr/>
          <p:nvPr/>
        </p:nvSpPr>
        <p:spPr>
          <a:xfrm>
            <a:off x="3726284" y="1950000"/>
            <a:ext cx="1513142" cy="650000"/>
          </a:xfrm>
          <a:prstGeom prst="rect">
            <a:avLst/>
          </a:prstGeom>
          <a:solidFill>
            <a:srgbClr val="DEEAF6"/>
          </a:solidFill>
          <a:ln w="9525">
            <a:solidFill>
              <a:srgbClr val="0070C0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/>
                <a:cs typeface="Arial"/>
              </a:rPr>
              <a:t>PostgreSQL</a:t>
            </a:r>
          </a:p>
        </p:txBody>
      </p:sp>
      <p:sp>
        <p:nvSpPr>
          <p:cNvPr id="208" name="Shape 208"/>
          <p:cNvSpPr/>
          <p:nvPr/>
        </p:nvSpPr>
        <p:spPr>
          <a:xfrm>
            <a:off x="5339426" y="1650000"/>
            <a:ext cx="1513142" cy="30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IoT</a:t>
            </a:r>
          </a:p>
        </p:txBody>
      </p:sp>
      <p:sp>
        <p:nvSpPr>
          <p:cNvPr id="209" name="Shape 209"/>
          <p:cNvSpPr/>
          <p:nvPr/>
        </p:nvSpPr>
        <p:spPr>
          <a:xfrm>
            <a:off x="5339426" y="1950000"/>
            <a:ext cx="1513142" cy="650000"/>
          </a:xfrm>
          <a:prstGeom prst="rect">
            <a:avLst/>
          </a:prstGeom>
          <a:solidFill>
            <a:srgbClr val="DEEAF6"/>
          </a:solidFill>
          <a:ln w="9525">
            <a:solidFill>
              <a:srgbClr val="0070C0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/>
                <a:cs typeface="Arial"/>
              </a:rPr>
              <a:t>ESP32 + health / activity sensors</a:t>
            </a:r>
          </a:p>
        </p:txBody>
      </p:sp>
      <p:sp>
        <p:nvSpPr>
          <p:cNvPr id="210" name="Shape 210"/>
          <p:cNvSpPr/>
          <p:nvPr/>
        </p:nvSpPr>
        <p:spPr>
          <a:xfrm>
            <a:off x="6952568" y="1650000"/>
            <a:ext cx="1513142" cy="30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AI/ML</a:t>
            </a:r>
          </a:p>
        </p:txBody>
      </p:sp>
      <p:sp>
        <p:nvSpPr>
          <p:cNvPr id="211" name="Shape 211"/>
          <p:cNvSpPr/>
          <p:nvPr/>
        </p:nvSpPr>
        <p:spPr>
          <a:xfrm>
            <a:off x="6952568" y="1950000"/>
            <a:ext cx="1513142" cy="650000"/>
          </a:xfrm>
          <a:prstGeom prst="rect">
            <a:avLst/>
          </a:prstGeom>
          <a:solidFill>
            <a:srgbClr val="DEEAF6"/>
          </a:solidFill>
          <a:ln w="9525">
            <a:solidFill>
              <a:srgbClr val="0070C0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/>
                <a:cs typeface="Arial"/>
              </a:rPr>
              <a:t>Scikit-learn / XGBoost</a:t>
            </a:r>
          </a:p>
        </p:txBody>
      </p:sp>
      <p:sp>
        <p:nvSpPr>
          <p:cNvPr id="212" name="Shape 212"/>
          <p:cNvSpPr/>
          <p:nvPr/>
        </p:nvSpPr>
        <p:spPr>
          <a:xfrm>
            <a:off x="8565710" y="1650000"/>
            <a:ext cx="1513142" cy="30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Communication</a:t>
            </a:r>
          </a:p>
        </p:txBody>
      </p:sp>
      <p:sp>
        <p:nvSpPr>
          <p:cNvPr id="213" name="Shape 213"/>
          <p:cNvSpPr/>
          <p:nvPr/>
        </p:nvSpPr>
        <p:spPr>
          <a:xfrm>
            <a:off x="8565710" y="1950000"/>
            <a:ext cx="1513142" cy="650000"/>
          </a:xfrm>
          <a:prstGeom prst="rect">
            <a:avLst/>
          </a:prstGeom>
          <a:solidFill>
            <a:srgbClr val="DEEAF6"/>
          </a:solidFill>
          <a:ln w="9525">
            <a:solidFill>
              <a:srgbClr val="0070C0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/>
                <a:cs typeface="Arial"/>
              </a:rPr>
              <a:t>Wi-Fi / LoRa / 4G</a:t>
            </a:r>
          </a:p>
        </p:txBody>
      </p:sp>
      <p:sp>
        <p:nvSpPr>
          <p:cNvPr id="214" name="Shape 214"/>
          <p:cNvSpPr/>
          <p:nvPr/>
        </p:nvSpPr>
        <p:spPr>
          <a:xfrm>
            <a:off x="10178852" y="1650000"/>
            <a:ext cx="1513142" cy="30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Deployment</a:t>
            </a:r>
          </a:p>
        </p:txBody>
      </p:sp>
      <p:sp>
        <p:nvSpPr>
          <p:cNvPr id="215" name="Shape 215"/>
          <p:cNvSpPr/>
          <p:nvPr/>
        </p:nvSpPr>
        <p:spPr>
          <a:xfrm>
            <a:off x="10178852" y="1950000"/>
            <a:ext cx="1513142" cy="650000"/>
          </a:xfrm>
          <a:prstGeom prst="rect">
            <a:avLst/>
          </a:prstGeom>
          <a:solidFill>
            <a:srgbClr val="DEEAF6"/>
          </a:solidFill>
          <a:ln w="9525">
            <a:solidFill>
              <a:srgbClr val="0070C0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/>
                <a:cs typeface="Arial"/>
              </a:rPr>
              <a:t>Cloud + Docker</a:t>
            </a:r>
          </a:p>
        </p:txBody>
      </p:sp>
      <p:sp>
        <p:nvSpPr>
          <p:cNvPr id="216" name="Shape 216"/>
          <p:cNvSpPr/>
          <p:nvPr/>
        </p:nvSpPr>
        <p:spPr>
          <a:xfrm>
            <a:off x="500000" y="2800000"/>
            <a:ext cx="60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800" b="1" dirty="0">
                <a:solidFill>
                  <a:srgbClr val="1F3864"/>
                </a:solidFill>
                <a:latin typeface="Arial"/>
                <a:cs typeface="Arial"/>
              </a:rPr>
              <a:t>Methodology and process for implementation</a:t>
            </a:r>
          </a:p>
        </p:txBody>
      </p:sp>
      <p:sp>
        <p:nvSpPr>
          <p:cNvPr id="217" name="Shape 217"/>
          <p:cNvSpPr/>
          <p:nvPr/>
        </p:nvSpPr>
        <p:spPr>
          <a:xfrm>
            <a:off x="500000" y="3250000"/>
            <a:ext cx="1974400" cy="1450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</p:spPr>
        <p:txBody>
          <a:bodyPr wrap="square" lIns="80000" tIns="150000" rIns="80000" bIns="6000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Data Collection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Livestock IoT sensors + Farmer app capture health and symptom data</a:t>
            </a:r>
          </a:p>
        </p:txBody>
      </p:sp>
      <p:sp>
        <p:nvSpPr>
          <p:cNvPr id="218" name="Shape 218"/>
          <p:cNvSpPr/>
          <p:nvPr/>
        </p:nvSpPr>
        <p:spPr>
          <a:xfrm>
            <a:off x="1337200" y="3100000"/>
            <a:ext cx="300000" cy="30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F3864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19" name="Shape 219"/>
          <p:cNvSpPr/>
          <p:nvPr/>
        </p:nvSpPr>
        <p:spPr>
          <a:xfrm>
            <a:off x="2514400" y="3850000"/>
            <a:ext cx="250000" cy="2500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endParaRPr lang="en-US"/>
          </a:p>
        </p:txBody>
      </p:sp>
      <p:sp>
        <p:nvSpPr>
          <p:cNvPr id="220" name="Shape 220"/>
          <p:cNvSpPr/>
          <p:nvPr/>
        </p:nvSpPr>
        <p:spPr>
          <a:xfrm>
            <a:off x="2804400" y="3250000"/>
            <a:ext cx="1974400" cy="14500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txBody>
          <a:bodyPr wrap="square" lIns="80000" tIns="150000" rIns="80000" bIns="6000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FastAPI Backend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Receives data and stores it in PostgreSQL</a:t>
            </a:r>
          </a:p>
        </p:txBody>
      </p:sp>
      <p:sp>
        <p:nvSpPr>
          <p:cNvPr id="221" name="Shape 221"/>
          <p:cNvSpPr/>
          <p:nvPr/>
        </p:nvSpPr>
        <p:spPr>
          <a:xfrm>
            <a:off x="3641600" y="3100000"/>
            <a:ext cx="300000" cy="30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F3864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22" name="Shape 222"/>
          <p:cNvSpPr/>
          <p:nvPr/>
        </p:nvSpPr>
        <p:spPr>
          <a:xfrm>
            <a:off x="4818800" y="3850000"/>
            <a:ext cx="250000" cy="2500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endParaRPr lang="en-US"/>
          </a:p>
        </p:txBody>
      </p:sp>
      <p:sp>
        <p:nvSpPr>
          <p:cNvPr id="223" name="Shape 223"/>
          <p:cNvSpPr/>
          <p:nvPr/>
        </p:nvSpPr>
        <p:spPr>
          <a:xfrm>
            <a:off x="5108800" y="3250000"/>
            <a:ext cx="1974400" cy="1450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</p:spPr>
        <p:txBody>
          <a:bodyPr wrap="square" lIns="80000" tIns="150000" rIns="80000" bIns="6000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Disease Detection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Detection engine runs risk analysis</a:t>
            </a:r>
          </a:p>
        </p:txBody>
      </p:sp>
      <p:sp>
        <p:nvSpPr>
          <p:cNvPr id="224" name="Shape 224"/>
          <p:cNvSpPr/>
          <p:nvPr/>
        </p:nvSpPr>
        <p:spPr>
          <a:xfrm>
            <a:off x="5946000" y="3100000"/>
            <a:ext cx="300000" cy="30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F3864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25" name="Shape 225"/>
          <p:cNvSpPr/>
          <p:nvPr/>
        </p:nvSpPr>
        <p:spPr>
          <a:xfrm>
            <a:off x="7123200" y="3850000"/>
            <a:ext cx="250000" cy="2500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endParaRPr lang="en-US"/>
          </a:p>
        </p:txBody>
      </p:sp>
      <p:sp>
        <p:nvSpPr>
          <p:cNvPr id="226" name="Shape 226"/>
          <p:cNvSpPr/>
          <p:nvPr/>
        </p:nvSpPr>
        <p:spPr>
          <a:xfrm>
            <a:off x="7413200" y="3250000"/>
            <a:ext cx="1974400" cy="14500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txBody>
          <a:bodyPr wrap="square" lIns="80000" tIns="150000" rIns="80000" bIns="6000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Alert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Farmer / Veterinarian notified</a:t>
            </a:r>
          </a:p>
        </p:txBody>
      </p:sp>
      <p:sp>
        <p:nvSpPr>
          <p:cNvPr id="227" name="Shape 227"/>
          <p:cNvSpPr/>
          <p:nvPr/>
        </p:nvSpPr>
        <p:spPr>
          <a:xfrm>
            <a:off x="8250400" y="3100000"/>
            <a:ext cx="300000" cy="30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F3864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28" name="Shape 228"/>
          <p:cNvSpPr/>
          <p:nvPr/>
        </p:nvSpPr>
        <p:spPr>
          <a:xfrm>
            <a:off x="9427600" y="3850000"/>
            <a:ext cx="250000" cy="2500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endParaRPr lang="en-US"/>
          </a:p>
        </p:txBody>
      </p:sp>
      <p:sp>
        <p:nvSpPr>
          <p:cNvPr id="229" name="Shape 229"/>
          <p:cNvSpPr/>
          <p:nvPr/>
        </p:nvSpPr>
        <p:spPr>
          <a:xfrm>
            <a:off x="9717600" y="3250000"/>
            <a:ext cx="1974400" cy="1450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</p:spPr>
        <p:txBody>
          <a:bodyPr wrap="square" lIns="80000" tIns="150000" rIns="80000" bIns="6000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Health Record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Treatment &amp; health record updated</a:t>
            </a:r>
          </a:p>
        </p:txBody>
      </p:sp>
      <p:sp>
        <p:nvSpPr>
          <p:cNvPr id="230" name="Shape 230"/>
          <p:cNvSpPr/>
          <p:nvPr/>
        </p:nvSpPr>
        <p:spPr>
          <a:xfrm>
            <a:off x="10554800" y="3100000"/>
            <a:ext cx="300000" cy="30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F3864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231" name="Shape 231"/>
          <p:cNvSpPr/>
          <p:nvPr/>
        </p:nvSpPr>
        <p:spPr>
          <a:xfrm>
            <a:off x="500000" y="4900000"/>
            <a:ext cx="11192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600" b="1" dirty="0">
                <a:solidFill>
                  <a:srgbClr val="1F3864"/>
                </a:solidFill>
                <a:latin typeface="Arial"/>
                <a:cs typeface="Arial"/>
              </a:rPr>
              <a:t>Implementation roadmap</a:t>
            </a:r>
          </a:p>
        </p:txBody>
      </p:sp>
      <p:sp>
        <p:nvSpPr>
          <p:cNvPr id="232" name="Shape 232"/>
          <p:cNvSpPr/>
          <p:nvPr/>
        </p:nvSpPr>
        <p:spPr>
          <a:xfrm>
            <a:off x="500000" y="5280000"/>
            <a:ext cx="3830666" cy="800000"/>
          </a:xfrm>
          <a:prstGeom prst="homePlate">
            <a:avLst>
              <a:gd name="adj" fmla="val 25000"/>
            </a:avLst>
          </a:prstGeom>
          <a:solidFill>
            <a:srgbClr val="548235"/>
          </a:solidFill>
          <a:ln>
            <a:noFill/>
          </a:ln>
        </p:spPr>
        <p:txBody>
          <a:bodyPr wrap="square" lIns="100000" tIns="30000" rIns="250000" bIns="3000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Phase 1: </a:t>
            </a:r>
            <a:r>
              <a:rPr lang="en-US" sz="1300" dirty="0">
                <a:solidFill>
                  <a:srgbClr val="FFFFFF"/>
                </a:solidFill>
                <a:latin typeface="Arial"/>
                <a:cs typeface="Arial"/>
              </a:rPr>
              <a:t>Rule-based thresholds prototype</a:t>
            </a:r>
          </a:p>
        </p:txBody>
      </p:sp>
      <p:sp>
        <p:nvSpPr>
          <p:cNvPr id="233" name="Shape 233"/>
          <p:cNvSpPr/>
          <p:nvPr/>
        </p:nvSpPr>
        <p:spPr>
          <a:xfrm>
            <a:off x="4180666" y="5280000"/>
            <a:ext cx="3830666" cy="800000"/>
          </a:xfrm>
          <a:prstGeom prst="chevron">
            <a:avLst>
              <a:gd name="adj" fmla="val 25000"/>
            </a:avLst>
          </a:prstGeom>
          <a:solidFill>
            <a:srgbClr val="2E75B6"/>
          </a:solidFill>
          <a:ln>
            <a:noFill/>
          </a:ln>
        </p:spPr>
        <p:txBody>
          <a:bodyPr wrap="square" lIns="300000" tIns="30000" rIns="250000" bIns="3000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Phase 2: </a:t>
            </a:r>
            <a:r>
              <a:rPr lang="en-US" sz="1300" dirty="0">
                <a:solidFill>
                  <a:srgbClr val="FFFFFF"/>
                </a:solidFill>
                <a:latin typeface="Arial"/>
                <a:cs typeface="Arial"/>
              </a:rPr>
              <a:t>Collect veterinary-labelled data</a:t>
            </a:r>
          </a:p>
        </p:txBody>
      </p:sp>
      <p:sp>
        <p:nvSpPr>
          <p:cNvPr id="234" name="Shape 234"/>
          <p:cNvSpPr/>
          <p:nvPr/>
        </p:nvSpPr>
        <p:spPr>
          <a:xfrm>
            <a:off x="7861332" y="5280000"/>
            <a:ext cx="3830666" cy="800000"/>
          </a:xfrm>
          <a:prstGeom prst="chevron">
            <a:avLst>
              <a:gd name="adj" fmla="val 25000"/>
            </a:avLst>
          </a:prstGeom>
          <a:solidFill>
            <a:srgbClr val="1F3864"/>
          </a:solidFill>
          <a:ln>
            <a:noFill/>
          </a:ln>
        </p:spPr>
        <p:txBody>
          <a:bodyPr wrap="square" lIns="300000" tIns="30000" rIns="250000" bIns="3000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Phase 3: </a:t>
            </a:r>
            <a:r>
              <a:rPr lang="en-US" sz="1300" dirty="0">
                <a:solidFill>
                  <a:srgbClr val="FFFFFF"/>
                </a:solidFill>
                <a:latin typeface="Arial"/>
                <a:cs typeface="Arial"/>
              </a:rPr>
              <a:t>ML models + prospective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" name="Shape 235"/>
          <p:cNvSpPr/>
          <p:nvPr/>
        </p:nvSpPr>
        <p:spPr>
          <a:xfrm>
            <a:off x="500000" y="1230000"/>
            <a:ext cx="60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800" b="1" dirty="0">
                <a:solidFill>
                  <a:srgbClr val="1F3864"/>
                </a:solidFill>
                <a:latin typeface="Arial"/>
                <a:cs typeface="Arial"/>
              </a:rPr>
              <a:t>Analysis of the feasibility of the idea</a:t>
            </a:r>
          </a:p>
        </p:txBody>
      </p:sp>
      <p:sp>
        <p:nvSpPr>
          <p:cNvPr id="236" name="Shape 236"/>
          <p:cNvSpPr/>
          <p:nvPr/>
        </p:nvSpPr>
        <p:spPr>
          <a:xfrm>
            <a:off x="500000" y="1620000"/>
            <a:ext cx="3597333" cy="10000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2700">
            <a:solidFill>
              <a:srgbClr val="0070C0"/>
            </a:solidFill>
          </a:ln>
        </p:spPr>
        <p:txBody>
          <a:bodyPr wrap="square" lIns="780000" tIns="50000" rIns="80000" bIns="50000" anchor="ctr">
            <a:noAutofit/>
          </a:bodyPr>
          <a:lstStyle/>
          <a:p>
            <a:pPr algn="l"/>
            <a:r>
              <a:rPr lang="en-US" sz="1400" dirty="0">
                <a:solidFill>
                  <a:srgbClr val="000000"/>
                </a:solidFill>
                <a:latin typeface="Arial"/>
                <a:cs typeface="Arial"/>
              </a:rPr>
              <a:t>Commercially available IoT components and mobile/web access</a:t>
            </a:r>
          </a:p>
        </p:txBody>
      </p:sp>
      <p:sp>
        <p:nvSpPr>
          <p:cNvPr id="237" name="Shape 237"/>
          <p:cNvSpPr/>
          <p:nvPr/>
        </p:nvSpPr>
        <p:spPr>
          <a:xfrm>
            <a:off x="610000" y="1870000"/>
            <a:ext cx="500000" cy="50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238" name="Shape 238"/>
          <p:cNvSpPr/>
          <p:nvPr/>
        </p:nvSpPr>
        <p:spPr>
          <a:xfrm>
            <a:off x="4297333" y="1620000"/>
            <a:ext cx="3597333" cy="10000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2700">
            <a:solidFill>
              <a:srgbClr val="0070C0"/>
            </a:solidFill>
          </a:ln>
        </p:spPr>
        <p:txBody>
          <a:bodyPr wrap="square" lIns="780000" tIns="50000" rIns="80000" bIns="50000" anchor="ctr">
            <a:noAutofit/>
          </a:bodyPr>
          <a:lstStyle/>
          <a:p>
            <a:pPr algn="l"/>
            <a:r>
              <a:rPr lang="en-US" sz="1400" dirty="0">
                <a:solidFill>
                  <a:srgbClr val="000000"/>
                </a:solidFill>
                <a:latin typeface="Arial"/>
                <a:cs typeface="Arial"/>
              </a:rPr>
              <a:t>Cloud architecture supports multiple farms and modular sensor expansion</a:t>
            </a:r>
          </a:p>
        </p:txBody>
      </p:sp>
      <p:sp>
        <p:nvSpPr>
          <p:cNvPr id="239" name="Shape 239"/>
          <p:cNvSpPr/>
          <p:nvPr/>
        </p:nvSpPr>
        <p:spPr>
          <a:xfrm>
            <a:off x="4407333" y="1870000"/>
            <a:ext cx="500000" cy="50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240" name="Shape 240"/>
          <p:cNvSpPr/>
          <p:nvPr/>
        </p:nvSpPr>
        <p:spPr>
          <a:xfrm>
            <a:off x="8094666" y="1620000"/>
            <a:ext cx="3597333" cy="10000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2700">
            <a:solidFill>
              <a:srgbClr val="0070C0"/>
            </a:solidFill>
          </a:ln>
        </p:spPr>
        <p:txBody>
          <a:bodyPr wrap="square" lIns="780000" tIns="50000" rIns="80000" bIns="50000" anchor="ctr">
            <a:noAutofit/>
          </a:bodyPr>
          <a:lstStyle/>
          <a:p>
            <a:pPr algn="l"/>
            <a:r>
              <a:rPr lang="en-US" sz="1400" dirty="0">
                <a:solidFill>
                  <a:srgbClr val="000000"/>
                </a:solidFill>
                <a:latin typeface="Arial"/>
                <a:cs typeface="Arial"/>
              </a:rPr>
              <a:t>Rule-based detection first, followed by ML using validated health data</a:t>
            </a:r>
          </a:p>
        </p:txBody>
      </p:sp>
      <p:sp>
        <p:nvSpPr>
          <p:cNvPr id="241" name="Shape 241"/>
          <p:cNvSpPr/>
          <p:nvPr/>
        </p:nvSpPr>
        <p:spPr>
          <a:xfrm>
            <a:off x="8204666" y="1870000"/>
            <a:ext cx="500000" cy="50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242" name="Shape 242"/>
          <p:cNvSpPr/>
          <p:nvPr/>
        </p:nvSpPr>
        <p:spPr>
          <a:xfrm>
            <a:off x="500000" y="2760000"/>
            <a:ext cx="4900000" cy="340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Potential challenges and risks</a:t>
            </a:r>
          </a:p>
        </p:txBody>
      </p:sp>
      <p:sp>
        <p:nvSpPr>
          <p:cNvPr id="243" name="Shape 243"/>
          <p:cNvSpPr/>
          <p:nvPr/>
        </p:nvSpPr>
        <p:spPr>
          <a:xfrm>
            <a:off x="6500000" y="2760000"/>
            <a:ext cx="5192000" cy="34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Strategies for overcoming these challenges</a:t>
            </a:r>
          </a:p>
        </p:txBody>
      </p:sp>
      <p:sp>
        <p:nvSpPr>
          <p:cNvPr id="244" name="Shape 244"/>
          <p:cNvSpPr/>
          <p:nvPr/>
        </p:nvSpPr>
        <p:spPr>
          <a:xfrm>
            <a:off x="500000" y="3200000"/>
            <a:ext cx="4900000" cy="470000"/>
          </a:xfrm>
          <a:prstGeom prst="roundRect">
            <a:avLst>
              <a:gd name="adj" fmla="val 20000"/>
            </a:avLst>
          </a:prstGeom>
          <a:solidFill>
            <a:srgbClr val="FCE4D6"/>
          </a:solidFill>
          <a:ln w="12700">
            <a:solidFill>
              <a:srgbClr val="C55A11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Arial"/>
                <a:cs typeface="Arial"/>
              </a:rPr>
              <a:t>Sensor accuracy and maintenance</a:t>
            </a:r>
          </a:p>
        </p:txBody>
      </p:sp>
      <p:sp>
        <p:nvSpPr>
          <p:cNvPr id="245" name="Shape 245"/>
          <p:cNvSpPr/>
          <p:nvPr/>
        </p:nvSpPr>
        <p:spPr>
          <a:xfrm>
            <a:off x="5600000" y="3290000"/>
            <a:ext cx="700000" cy="29000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endParaRPr lang="en-US"/>
          </a:p>
        </p:txBody>
      </p:sp>
      <p:sp>
        <p:nvSpPr>
          <p:cNvPr id="246" name="Shape 246"/>
          <p:cNvSpPr/>
          <p:nvPr/>
        </p:nvSpPr>
        <p:spPr>
          <a:xfrm>
            <a:off x="6500000" y="3200000"/>
            <a:ext cx="5192000" cy="470000"/>
          </a:xfrm>
          <a:prstGeom prst="roundRect">
            <a:avLst>
              <a:gd name="adj" fmla="val 20000"/>
            </a:avLst>
          </a:prstGeom>
          <a:solidFill>
            <a:srgbClr val="E2F0D9"/>
          </a:solidFill>
          <a:ln w="12700">
            <a:solidFill>
              <a:srgbClr val="548235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Arial"/>
                <a:cs typeface="Arial"/>
              </a:rPr>
              <a:t>Calibration and periodic maintenance</a:t>
            </a:r>
          </a:p>
        </p:txBody>
      </p:sp>
      <p:sp>
        <p:nvSpPr>
          <p:cNvPr id="247" name="Shape 247"/>
          <p:cNvSpPr/>
          <p:nvPr/>
        </p:nvSpPr>
        <p:spPr>
          <a:xfrm>
            <a:off x="500000" y="3740000"/>
            <a:ext cx="4900000" cy="470000"/>
          </a:xfrm>
          <a:prstGeom prst="roundRect">
            <a:avLst>
              <a:gd name="adj" fmla="val 20000"/>
            </a:avLst>
          </a:prstGeom>
          <a:solidFill>
            <a:srgbClr val="FCE4D6"/>
          </a:solidFill>
          <a:ln w="12700">
            <a:solidFill>
              <a:srgbClr val="C55A11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Arial"/>
                <a:cs typeface="Arial"/>
              </a:rPr>
              <a:t>Limited rural internet connectivity</a:t>
            </a:r>
          </a:p>
        </p:txBody>
      </p:sp>
      <p:sp>
        <p:nvSpPr>
          <p:cNvPr id="248" name="Shape 248"/>
          <p:cNvSpPr/>
          <p:nvPr/>
        </p:nvSpPr>
        <p:spPr>
          <a:xfrm>
            <a:off x="5600000" y="3830000"/>
            <a:ext cx="700000" cy="29000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endParaRPr lang="en-US"/>
          </a:p>
        </p:txBody>
      </p:sp>
      <p:sp>
        <p:nvSpPr>
          <p:cNvPr id="249" name="Shape 249"/>
          <p:cNvSpPr/>
          <p:nvPr/>
        </p:nvSpPr>
        <p:spPr>
          <a:xfrm>
            <a:off x="6500000" y="3740000"/>
            <a:ext cx="5192000" cy="470000"/>
          </a:xfrm>
          <a:prstGeom prst="roundRect">
            <a:avLst>
              <a:gd name="adj" fmla="val 20000"/>
            </a:avLst>
          </a:prstGeom>
          <a:solidFill>
            <a:srgbClr val="E2F0D9"/>
          </a:solidFill>
          <a:ln w="12700">
            <a:solidFill>
              <a:srgbClr val="548235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Arial"/>
                <a:cs typeface="Arial"/>
              </a:rPr>
              <a:t>Offline collection and later synchronization</a:t>
            </a:r>
          </a:p>
        </p:txBody>
      </p:sp>
      <p:sp>
        <p:nvSpPr>
          <p:cNvPr id="250" name="Shape 250"/>
          <p:cNvSpPr/>
          <p:nvPr/>
        </p:nvSpPr>
        <p:spPr>
          <a:xfrm>
            <a:off x="500000" y="4280000"/>
            <a:ext cx="4900000" cy="470000"/>
          </a:xfrm>
          <a:prstGeom prst="roundRect">
            <a:avLst>
              <a:gd name="adj" fmla="val 20000"/>
            </a:avLst>
          </a:prstGeom>
          <a:solidFill>
            <a:srgbClr val="FCE4D6"/>
          </a:solidFill>
          <a:ln w="12700">
            <a:solidFill>
              <a:srgbClr val="C55A11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Arial"/>
                <a:cs typeface="Arial"/>
              </a:rPr>
              <a:t>Insufficient quality health datasets</a:t>
            </a:r>
          </a:p>
        </p:txBody>
      </p:sp>
      <p:sp>
        <p:nvSpPr>
          <p:cNvPr id="251" name="Shape 251"/>
          <p:cNvSpPr/>
          <p:nvPr/>
        </p:nvSpPr>
        <p:spPr>
          <a:xfrm>
            <a:off x="5600000" y="4370000"/>
            <a:ext cx="700000" cy="29000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endParaRPr lang="en-US"/>
          </a:p>
        </p:txBody>
      </p:sp>
      <p:sp>
        <p:nvSpPr>
          <p:cNvPr id="252" name="Shape 252"/>
          <p:cNvSpPr/>
          <p:nvPr/>
        </p:nvSpPr>
        <p:spPr>
          <a:xfrm>
            <a:off x="6500000" y="4280000"/>
            <a:ext cx="5192000" cy="470000"/>
          </a:xfrm>
          <a:prstGeom prst="roundRect">
            <a:avLst>
              <a:gd name="adj" fmla="val 20000"/>
            </a:avLst>
          </a:prstGeom>
          <a:solidFill>
            <a:srgbClr val="E2F0D9"/>
          </a:solidFill>
          <a:ln w="12700">
            <a:solidFill>
              <a:srgbClr val="548235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Arial"/>
                <a:cs typeface="Arial"/>
              </a:rPr>
              <a:t>Models built using validated veterinary data</a:t>
            </a:r>
          </a:p>
        </p:txBody>
      </p:sp>
      <p:sp>
        <p:nvSpPr>
          <p:cNvPr id="253" name="Shape 253"/>
          <p:cNvSpPr/>
          <p:nvPr/>
        </p:nvSpPr>
        <p:spPr>
          <a:xfrm>
            <a:off x="500000" y="4820000"/>
            <a:ext cx="4900000" cy="470000"/>
          </a:xfrm>
          <a:prstGeom prst="roundRect">
            <a:avLst>
              <a:gd name="adj" fmla="val 20000"/>
            </a:avLst>
          </a:prstGeom>
          <a:solidFill>
            <a:srgbClr val="FCE4D6"/>
          </a:solidFill>
          <a:ln w="12700">
            <a:solidFill>
              <a:srgbClr val="C55A11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Arial"/>
                <a:cs typeface="Arial"/>
              </a:rPr>
              <a:t>False alerts</a:t>
            </a:r>
          </a:p>
        </p:txBody>
      </p:sp>
      <p:sp>
        <p:nvSpPr>
          <p:cNvPr id="254" name="Shape 254"/>
          <p:cNvSpPr/>
          <p:nvPr/>
        </p:nvSpPr>
        <p:spPr>
          <a:xfrm>
            <a:off x="5600000" y="4910000"/>
            <a:ext cx="700000" cy="29000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endParaRPr lang="en-US"/>
          </a:p>
        </p:txBody>
      </p:sp>
      <p:sp>
        <p:nvSpPr>
          <p:cNvPr id="255" name="Shape 255"/>
          <p:cNvSpPr/>
          <p:nvPr/>
        </p:nvSpPr>
        <p:spPr>
          <a:xfrm>
            <a:off x="6500000" y="4820000"/>
            <a:ext cx="5192000" cy="470000"/>
          </a:xfrm>
          <a:prstGeom prst="roundRect">
            <a:avLst>
              <a:gd name="adj" fmla="val 20000"/>
            </a:avLst>
          </a:prstGeom>
          <a:solidFill>
            <a:srgbClr val="E2F0D9"/>
          </a:solidFill>
          <a:ln w="12700">
            <a:solidFill>
              <a:srgbClr val="548235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Arial"/>
                <a:cs typeface="Arial"/>
              </a:rPr>
              <a:t>Human/veterinary review of critical alerts</a:t>
            </a:r>
          </a:p>
        </p:txBody>
      </p:sp>
      <p:sp>
        <p:nvSpPr>
          <p:cNvPr id="256" name="Shape 256"/>
          <p:cNvSpPr/>
          <p:nvPr/>
        </p:nvSpPr>
        <p:spPr>
          <a:xfrm>
            <a:off x="500000" y="5360000"/>
            <a:ext cx="4900000" cy="470000"/>
          </a:xfrm>
          <a:prstGeom prst="roundRect">
            <a:avLst>
              <a:gd name="adj" fmla="val 20000"/>
            </a:avLst>
          </a:prstGeom>
          <a:solidFill>
            <a:srgbClr val="FCE4D6"/>
          </a:solidFill>
          <a:ln w="12700">
            <a:solidFill>
              <a:srgbClr val="C55A11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Arial"/>
                <a:cs typeface="Arial"/>
              </a:rPr>
              <a:t>Farmer adoption and usability</a:t>
            </a:r>
          </a:p>
        </p:txBody>
      </p:sp>
      <p:sp>
        <p:nvSpPr>
          <p:cNvPr id="257" name="Shape 257"/>
          <p:cNvSpPr/>
          <p:nvPr/>
        </p:nvSpPr>
        <p:spPr>
          <a:xfrm>
            <a:off x="5600000" y="5450000"/>
            <a:ext cx="700000" cy="29000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endParaRPr lang="en-US"/>
          </a:p>
        </p:txBody>
      </p:sp>
      <p:sp>
        <p:nvSpPr>
          <p:cNvPr id="258" name="Shape 258"/>
          <p:cNvSpPr/>
          <p:nvPr/>
        </p:nvSpPr>
        <p:spPr>
          <a:xfrm>
            <a:off x="6500000" y="5360000"/>
            <a:ext cx="5192000" cy="470000"/>
          </a:xfrm>
          <a:prstGeom prst="roundRect">
            <a:avLst>
              <a:gd name="adj" fmla="val 20000"/>
            </a:avLst>
          </a:prstGeom>
          <a:solidFill>
            <a:srgbClr val="E2F0D9"/>
          </a:solidFill>
          <a:ln w="12700">
            <a:solidFill>
              <a:srgbClr val="548235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Arial"/>
                <a:cs typeface="Arial"/>
              </a:rPr>
              <a:t>Simple multilingual mobile interface</a:t>
            </a:r>
          </a:p>
        </p:txBody>
      </p:sp>
      <p:sp>
        <p:nvSpPr>
          <p:cNvPr id="259" name="Shape 259"/>
          <p:cNvSpPr/>
          <p:nvPr/>
        </p:nvSpPr>
        <p:spPr>
          <a:xfrm>
            <a:off x="500000" y="5920000"/>
            <a:ext cx="11192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Note: Wi-Fi, LoRa and 4G deployment options require compatible gateways/modules.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1" name="Shape 501"/>
          <p:cNvSpPr/>
          <p:nvPr/>
        </p:nvSpPr>
        <p:spPr>
          <a:xfrm>
            <a:off x="500000" y="1230000"/>
            <a:ext cx="70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800" b="1" dirty="0">
                <a:solidFill>
                  <a:srgbClr val="1F3864"/>
                </a:solidFill>
                <a:latin typeface="Arial"/>
                <a:cs typeface="Arial"/>
              </a:rPr>
              <a:t>Potential impact on the target audience</a:t>
            </a:r>
          </a:p>
        </p:txBody>
      </p:sp>
      <p:sp>
        <p:nvSpPr>
          <p:cNvPr id="502" name="Shape 502"/>
          <p:cNvSpPr/>
          <p:nvPr/>
        </p:nvSpPr>
        <p:spPr>
          <a:xfrm>
            <a:off x="500000" y="1620000"/>
            <a:ext cx="2158400" cy="42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40000" tIns="0" rIns="4000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Farmers</a:t>
            </a:r>
          </a:p>
        </p:txBody>
      </p:sp>
      <p:sp>
        <p:nvSpPr>
          <p:cNvPr id="503" name="Shape 503"/>
          <p:cNvSpPr/>
          <p:nvPr/>
        </p:nvSpPr>
        <p:spPr>
          <a:xfrm>
            <a:off x="500000" y="2040000"/>
            <a:ext cx="2158400" cy="600000"/>
          </a:xfrm>
          <a:prstGeom prst="rect">
            <a:avLst/>
          </a:prstGeom>
          <a:solidFill>
            <a:srgbClr val="DEEAF6"/>
          </a:solidFill>
          <a:ln w="9525">
            <a:solidFill>
              <a:srgbClr val="0070C0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/>
                <a:cs typeface="Arial"/>
              </a:rPr>
              <a:t>Early alerts on animal health issues</a:t>
            </a:r>
          </a:p>
        </p:txBody>
      </p:sp>
      <p:sp>
        <p:nvSpPr>
          <p:cNvPr id="504" name="Shape 504"/>
          <p:cNvSpPr/>
          <p:nvPr/>
        </p:nvSpPr>
        <p:spPr>
          <a:xfrm>
            <a:off x="2758400" y="1620000"/>
            <a:ext cx="2158400" cy="42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40000" tIns="0" rIns="4000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Veterinarians</a:t>
            </a:r>
          </a:p>
        </p:txBody>
      </p:sp>
      <p:sp>
        <p:nvSpPr>
          <p:cNvPr id="505" name="Shape 505"/>
          <p:cNvSpPr/>
          <p:nvPr/>
        </p:nvSpPr>
        <p:spPr>
          <a:xfrm>
            <a:off x="2758400" y="2040000"/>
            <a:ext cx="2158400" cy="600000"/>
          </a:xfrm>
          <a:prstGeom prst="rect">
            <a:avLst/>
          </a:prstGeom>
          <a:solidFill>
            <a:srgbClr val="DEEAF6"/>
          </a:solidFill>
          <a:ln w="9525">
            <a:solidFill>
              <a:srgbClr val="0070C0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/>
                <a:cs typeface="Arial"/>
              </a:rPr>
              <a:t>Faster, data-backed case assessment</a:t>
            </a:r>
          </a:p>
        </p:txBody>
      </p:sp>
      <p:sp>
        <p:nvSpPr>
          <p:cNvPr id="506" name="Shape 506"/>
          <p:cNvSpPr/>
          <p:nvPr/>
        </p:nvSpPr>
        <p:spPr>
          <a:xfrm>
            <a:off x="5016800" y="1620000"/>
            <a:ext cx="2158400" cy="42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40000" tIns="0" rIns="4000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Dairy &amp; livestock farms</a:t>
            </a:r>
          </a:p>
        </p:txBody>
      </p:sp>
      <p:sp>
        <p:nvSpPr>
          <p:cNvPr id="507" name="Shape 507"/>
          <p:cNvSpPr/>
          <p:nvPr/>
        </p:nvSpPr>
        <p:spPr>
          <a:xfrm>
            <a:off x="5016800" y="2040000"/>
            <a:ext cx="2158400" cy="600000"/>
          </a:xfrm>
          <a:prstGeom prst="rect">
            <a:avLst/>
          </a:prstGeom>
          <a:solidFill>
            <a:srgbClr val="DEEAF6"/>
          </a:solidFill>
          <a:ln w="9525">
            <a:solidFill>
              <a:srgbClr val="0070C0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/>
                <a:cs typeface="Arial"/>
              </a:rPr>
              <a:t>Farm-level disease monitoring</a:t>
            </a:r>
          </a:p>
        </p:txBody>
      </p:sp>
      <p:sp>
        <p:nvSpPr>
          <p:cNvPr id="508" name="Shape 508"/>
          <p:cNvSpPr/>
          <p:nvPr/>
        </p:nvSpPr>
        <p:spPr>
          <a:xfrm>
            <a:off x="7275200" y="1620000"/>
            <a:ext cx="2158400" cy="42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40000" tIns="0" rIns="4000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Animal-health organizations</a:t>
            </a:r>
          </a:p>
        </p:txBody>
      </p:sp>
      <p:sp>
        <p:nvSpPr>
          <p:cNvPr id="509" name="Shape 509"/>
          <p:cNvSpPr/>
          <p:nvPr/>
        </p:nvSpPr>
        <p:spPr>
          <a:xfrm>
            <a:off x="7275200" y="2040000"/>
            <a:ext cx="2158400" cy="600000"/>
          </a:xfrm>
          <a:prstGeom prst="rect">
            <a:avLst/>
          </a:prstGeom>
          <a:solidFill>
            <a:srgbClr val="DEEAF6"/>
          </a:solidFill>
          <a:ln w="9525">
            <a:solidFill>
              <a:srgbClr val="0070C0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/>
                <a:cs typeface="Arial"/>
              </a:rPr>
              <a:t>Better access to health information</a:t>
            </a:r>
          </a:p>
        </p:txBody>
      </p:sp>
      <p:sp>
        <p:nvSpPr>
          <p:cNvPr id="510" name="Shape 510"/>
          <p:cNvSpPr/>
          <p:nvPr/>
        </p:nvSpPr>
        <p:spPr>
          <a:xfrm>
            <a:off x="9533600" y="1620000"/>
            <a:ext cx="2158400" cy="42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40000" tIns="0" rIns="4000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Government livestock depts</a:t>
            </a:r>
          </a:p>
        </p:txBody>
      </p:sp>
      <p:sp>
        <p:nvSpPr>
          <p:cNvPr id="511" name="Shape 511"/>
          <p:cNvSpPr/>
          <p:nvPr/>
        </p:nvSpPr>
        <p:spPr>
          <a:xfrm>
            <a:off x="9533600" y="2040000"/>
            <a:ext cx="2158400" cy="600000"/>
          </a:xfrm>
          <a:prstGeom prst="rect">
            <a:avLst/>
          </a:prstGeom>
          <a:solidFill>
            <a:srgbClr val="DEEAF6"/>
          </a:solidFill>
          <a:ln w="9525">
            <a:solidFill>
              <a:srgbClr val="0070C0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/>
                <a:cs typeface="Arial"/>
              </a:rPr>
              <a:t>Support for disease surveillance</a:t>
            </a:r>
          </a:p>
        </p:txBody>
      </p:sp>
      <p:sp>
        <p:nvSpPr>
          <p:cNvPr id="512" name="Shape 512"/>
          <p:cNvSpPr/>
          <p:nvPr/>
        </p:nvSpPr>
        <p:spPr>
          <a:xfrm>
            <a:off x="500000" y="2760000"/>
            <a:ext cx="70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800" b="1" dirty="0">
                <a:solidFill>
                  <a:srgbClr val="1F3864"/>
                </a:solidFill>
                <a:latin typeface="Arial"/>
                <a:cs typeface="Arial"/>
              </a:rPr>
              <a:t>Benefits of the solution</a:t>
            </a:r>
          </a:p>
        </p:txBody>
      </p:sp>
      <p:sp>
        <p:nvSpPr>
          <p:cNvPr id="513" name="Shape 513"/>
          <p:cNvSpPr/>
          <p:nvPr/>
        </p:nvSpPr>
        <p:spPr>
          <a:xfrm>
            <a:off x="500000" y="3130000"/>
            <a:ext cx="3597333" cy="380000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548235"/>
          </a:solidFill>
          <a:ln w="12700">
            <a:solidFill>
              <a:srgbClr val="548235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Social</a:t>
            </a:r>
          </a:p>
        </p:txBody>
      </p:sp>
      <p:sp>
        <p:nvSpPr>
          <p:cNvPr id="514" name="Shape 514"/>
          <p:cNvSpPr/>
          <p:nvPr/>
        </p:nvSpPr>
        <p:spPr>
          <a:xfrm>
            <a:off x="500000" y="3510000"/>
            <a:ext cx="3597333" cy="1350000"/>
          </a:xfrm>
          <a:prstGeom prst="rect">
            <a:avLst/>
          </a:prstGeom>
          <a:solidFill>
            <a:srgbClr val="E2F0D9"/>
          </a:solidFill>
          <a:ln w="12700">
            <a:solidFill>
              <a:srgbClr val="548235"/>
            </a:solidFill>
          </a:ln>
        </p:spPr>
        <p:txBody>
          <a:bodyPr wrap="square" lIns="120000" tIns="60000" rIns="100000" bIns="40000" anchor="t">
            <a:noAutofit/>
          </a:bodyPr>
          <a:lstStyle/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/>
                <a:cs typeface="Arial"/>
              </a:rPr>
              <a:t>Healthier livestock</a:t>
            </a:r>
          </a:p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/>
                <a:cs typeface="Arial"/>
              </a:rPr>
              <a:t>Better access to health information</a:t>
            </a:r>
          </a:p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/>
                <a:cs typeface="Arial"/>
              </a:rPr>
              <a:t>Faster veterinary intervention</a:t>
            </a:r>
          </a:p>
        </p:txBody>
      </p:sp>
      <p:sp>
        <p:nvSpPr>
          <p:cNvPr id="515" name="Shape 515"/>
          <p:cNvSpPr/>
          <p:nvPr/>
        </p:nvSpPr>
        <p:spPr>
          <a:xfrm>
            <a:off x="4297333" y="3130000"/>
            <a:ext cx="3597333" cy="380000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Economic</a:t>
            </a:r>
          </a:p>
        </p:txBody>
      </p:sp>
      <p:sp>
        <p:nvSpPr>
          <p:cNvPr id="516" name="Shape 516"/>
          <p:cNvSpPr/>
          <p:nvPr/>
        </p:nvSpPr>
        <p:spPr>
          <a:xfrm>
            <a:off x="4297333" y="3510000"/>
            <a:ext cx="3597333" cy="1350000"/>
          </a:xfrm>
          <a:prstGeom prst="rect">
            <a:avLst/>
          </a:prstGeom>
          <a:solidFill>
            <a:srgbClr val="DEEAF6"/>
          </a:solidFill>
          <a:ln w="12700">
            <a:solidFill>
              <a:srgbClr val="2E75B6"/>
            </a:solidFill>
          </a:ln>
        </p:spPr>
        <p:txBody>
          <a:bodyPr wrap="square" lIns="120000" tIns="60000" rIns="100000" bIns="40000" anchor="t">
            <a:noAutofit/>
          </a:bodyPr>
          <a:lstStyle/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/>
                <a:cs typeface="Arial"/>
              </a:rPr>
              <a:t>Fewer avoidable losses</a:t>
            </a:r>
          </a:p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/>
                <a:cs typeface="Arial"/>
              </a:rPr>
              <a:t>Better productivity management</a:t>
            </a:r>
          </a:p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/>
                <a:cs typeface="Arial"/>
              </a:rPr>
              <a:t>Timely action helps limit disease spread</a:t>
            </a:r>
          </a:p>
        </p:txBody>
      </p:sp>
      <p:sp>
        <p:nvSpPr>
          <p:cNvPr id="517" name="Shape 517"/>
          <p:cNvSpPr/>
          <p:nvPr/>
        </p:nvSpPr>
        <p:spPr>
          <a:xfrm>
            <a:off x="8094666" y="3130000"/>
            <a:ext cx="3597333" cy="380000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Environmental</a:t>
            </a:r>
          </a:p>
        </p:txBody>
      </p:sp>
      <p:sp>
        <p:nvSpPr>
          <p:cNvPr id="518" name="Shape 518"/>
          <p:cNvSpPr/>
          <p:nvPr/>
        </p:nvSpPr>
        <p:spPr>
          <a:xfrm>
            <a:off x="8094666" y="3510000"/>
            <a:ext cx="3597333" cy="1350000"/>
          </a:xfrm>
          <a:prstGeom prst="rect">
            <a:avLst/>
          </a:prstGeom>
          <a:solidFill>
            <a:srgbClr val="D9E1F2"/>
          </a:solidFill>
          <a:ln w="12700">
            <a:solidFill>
              <a:srgbClr val="1F3864"/>
            </a:solidFill>
          </a:ln>
        </p:spPr>
        <p:txBody>
          <a:bodyPr wrap="square" lIns="120000" tIns="60000" rIns="100000" bIns="40000" anchor="t">
            <a:noAutofit/>
          </a:bodyPr>
          <a:lstStyle/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/>
                <a:cs typeface="Arial"/>
              </a:rPr>
              <a:t>Responsible livestock management</a:t>
            </a:r>
          </a:p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/>
                <a:cs typeface="Arial"/>
              </a:rPr>
              <a:t>Better monitoring may reduce unnecessary treatment</a:t>
            </a:r>
          </a:p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/>
                <a:cs typeface="Arial"/>
              </a:rPr>
              <a:t>Farm-level disease surveillance</a:t>
            </a:r>
          </a:p>
        </p:txBody>
      </p:sp>
      <p:sp>
        <p:nvSpPr>
          <p:cNvPr id="519" name="Shape 519"/>
          <p:cNvSpPr/>
          <p:nvPr/>
        </p:nvSpPr>
        <p:spPr>
          <a:xfrm>
            <a:off x="500000" y="4960000"/>
            <a:ext cx="1119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dirty="0">
                <a:solidFill>
                  <a:srgbClr val="1F3864"/>
                </a:solidFill>
                <a:latin typeface="Arial"/>
                <a:cs typeface="Arial"/>
              </a:rPr>
              <a:t>Expected outcome chain</a:t>
            </a:r>
          </a:p>
        </p:txBody>
      </p:sp>
      <p:sp>
        <p:nvSpPr>
          <p:cNvPr id="520" name="Shape 520"/>
          <p:cNvSpPr/>
          <p:nvPr/>
        </p:nvSpPr>
        <p:spPr>
          <a:xfrm>
            <a:off x="500000" y="5300000"/>
            <a:ext cx="2910500" cy="600000"/>
          </a:xfrm>
          <a:prstGeom prst="homePlate">
            <a:avLst>
              <a:gd name="adj" fmla="val 25000"/>
            </a:avLst>
          </a:prstGeom>
          <a:solidFill>
            <a:srgbClr val="548235"/>
          </a:solidFill>
          <a:ln>
            <a:noFill/>
          </a:ln>
        </p:spPr>
        <p:txBody>
          <a:bodyPr wrap="square" lIns="100000" tIns="20000" rIns="230000" bIns="2000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Early detection</a:t>
            </a:r>
          </a:p>
        </p:txBody>
      </p:sp>
      <p:sp>
        <p:nvSpPr>
          <p:cNvPr id="521" name="Shape 521"/>
          <p:cNvSpPr/>
          <p:nvPr/>
        </p:nvSpPr>
        <p:spPr>
          <a:xfrm>
            <a:off x="3260500" y="5300000"/>
            <a:ext cx="2910500" cy="600000"/>
          </a:xfrm>
          <a:prstGeom prst="chevron">
            <a:avLst>
              <a:gd name="adj" fmla="val 25000"/>
            </a:avLst>
          </a:prstGeom>
          <a:solidFill>
            <a:srgbClr val="2E75B6"/>
          </a:solidFill>
          <a:ln>
            <a:noFill/>
          </a:ln>
        </p:spPr>
        <p:txBody>
          <a:bodyPr wrap="square" lIns="280000" tIns="20000" rIns="230000" bIns="2000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Faster veterinary intervention</a:t>
            </a:r>
          </a:p>
        </p:txBody>
      </p:sp>
      <p:sp>
        <p:nvSpPr>
          <p:cNvPr id="522" name="Shape 522"/>
          <p:cNvSpPr/>
          <p:nvPr/>
        </p:nvSpPr>
        <p:spPr>
          <a:xfrm>
            <a:off x="6021000" y="5300000"/>
            <a:ext cx="2910500" cy="600000"/>
          </a:xfrm>
          <a:prstGeom prst="chevron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lIns="280000" tIns="20000" rIns="230000" bIns="2000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Healthier livestock</a:t>
            </a:r>
          </a:p>
        </p:txBody>
      </p:sp>
      <p:sp>
        <p:nvSpPr>
          <p:cNvPr id="523" name="Shape 523"/>
          <p:cNvSpPr/>
          <p:nvPr/>
        </p:nvSpPr>
        <p:spPr>
          <a:xfrm>
            <a:off x="8781500" y="5300000"/>
            <a:ext cx="2910500" cy="600000"/>
          </a:xfrm>
          <a:prstGeom prst="chevron">
            <a:avLst>
              <a:gd name="adj" fmla="val 25000"/>
            </a:avLst>
          </a:prstGeom>
          <a:solidFill>
            <a:srgbClr val="1F3864"/>
          </a:solidFill>
          <a:ln>
            <a:noFill/>
          </a:ln>
        </p:spPr>
        <p:txBody>
          <a:bodyPr wrap="square" lIns="280000" tIns="20000" rIns="230000" bIns="2000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Fewer avoidable losses</a:t>
            </a:r>
          </a:p>
        </p:txBody>
      </p:sp>
      <p:sp>
        <p:nvSpPr>
          <p:cNvPr id="524" name="Shape 524"/>
          <p:cNvSpPr/>
          <p:nvPr/>
        </p:nvSpPr>
        <p:spPr>
          <a:xfrm>
            <a:off x="500000" y="5960000"/>
            <a:ext cx="1119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Note: Expected benefits are subject to field evaluation. Treatment remains a veterinary decision.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50000"/>
            <a:ext cx="11000000" cy="4839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WOAH — Animal Health Standards (codes and manuals)</a:t>
            </a:r>
          </a:p>
          <a:p>
            <a:pPr marL="742950" indent="-285750" algn="l">
              <a:lnSpc>
                <a:spcPct val="100000"/>
              </a:lnSpc>
              <a:spcBef>
                <a:spcPts val="200"/>
              </a:spcBef>
              <a:buFont typeface="Arial"/>
              <a:buChar char="–"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https://www.woah.org/en/what-we-do/standards/codes-and-manuals/</a:t>
            </a:r>
          </a:p>
          <a:p>
            <a:pPr marL="342900" indent="-342900" algn="l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FAO — Animal Health (prevention, surveillance and early warning)</a:t>
            </a:r>
          </a:p>
          <a:p>
            <a:pPr marL="742950" indent="-285750" algn="l">
              <a:lnSpc>
                <a:spcPct val="100000"/>
              </a:lnSpc>
              <a:spcBef>
                <a:spcPts val="200"/>
              </a:spcBef>
              <a:buFont typeface="Arial"/>
              <a:buChar char="–"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https://www.fao.org/animal-health/en</a:t>
            </a:r>
          </a:p>
          <a:p>
            <a:pPr marL="342900" indent="-342900" algn="l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ICAR (India) — Animal Science Division (livestock health, welfare and disease management)</a:t>
            </a:r>
          </a:p>
          <a:p>
            <a:pPr marL="742950" indent="-285750" algn="l">
              <a:lnSpc>
                <a:spcPct val="100000"/>
              </a:lnSpc>
              <a:spcBef>
                <a:spcPts val="200"/>
              </a:spcBef>
              <a:buFont typeface="Arial"/>
              <a:buChar char="–"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https://icar.org.in/en/animal-science-division</a:t>
            </a:r>
          </a:p>
          <a:p>
            <a:pPr marL="342900" indent="-342900" algn="l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Schulthess et al. (2024) — LoRa cattle monitoring (wearable sensors, remote activity monitoring)</a:t>
            </a:r>
          </a:p>
          <a:p>
            <a:pPr marL="742950" indent="-285750" algn="l">
              <a:lnSpc>
                <a:spcPct val="100000"/>
              </a:lnSpc>
              <a:spcBef>
                <a:spcPts val="200"/>
              </a:spcBef>
              <a:buFont typeface="Arial"/>
              <a:buChar char="–"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https://arxiv.org/abs/2406.06245</a:t>
            </a:r>
          </a:p>
          <a:p>
            <a:pPr marL="342900" indent="-342900" algn="l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Pillai &amp; Nazir (2025) — CattleSense (IoT multisensor monitoring of cattle well-being)</a:t>
            </a:r>
          </a:p>
          <a:p>
            <a:pPr marL="742950" indent="-285750" algn="l">
              <a:lnSpc>
                <a:spcPct val="100000"/>
              </a:lnSpc>
              <a:spcBef>
                <a:spcPts val="200"/>
              </a:spcBef>
              <a:buFont typeface="Arial"/>
              <a:buChar char="–"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https://arxiv.org/abs/2509.12617</a:t>
            </a:r>
          </a:p>
          <a:p>
            <a:pPr marL="342900" indent="-342900" algn="l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Lee &amp; Seo (2021) — Wearable Wireless Biosensor Technology (cattle monitoring review, prediction accuracy)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Research references provide background and do not demonstrate validation of this proposed prototype.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n-US" sz="16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DemoLink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(“</a:t>
            </a:r>
            <a:r>
              <a:rPr lang="en-US" sz="16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github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”)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743</Words>
  <Application>Microsoft Office PowerPoint</Application>
  <PresentationFormat>Widescreen</PresentationFormat>
  <Paragraphs>145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hakashkumar v</cp:lastModifiedBy>
  <cp:revision>148</cp:revision>
  <dcterms:created xsi:type="dcterms:W3CDTF">2013-12-12T18:46:50Z</dcterms:created>
  <dcterms:modified xsi:type="dcterms:W3CDTF">2026-09-28T06:35:03Z</dcterms:modified>
  <cp:category/>
</cp:coreProperties>
</file>